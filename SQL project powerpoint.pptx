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6" r:id="rId2"/>
    <p:sldId id="257" r:id="rId3"/>
    <p:sldId id="260" r:id="rId4"/>
    <p:sldId id="268" r:id="rId5"/>
    <p:sldId id="275" r:id="rId6"/>
    <p:sldId id="276" r:id="rId7"/>
    <p:sldId id="277" r:id="rId8"/>
    <p:sldId id="278" r:id="rId9"/>
    <p:sldId id="279" r:id="rId10"/>
    <p:sldId id="267" r:id="rId11"/>
    <p:sldId id="270" r:id="rId12"/>
    <p:sldId id="271" r:id="rId13"/>
    <p:sldId id="272" r:id="rId14"/>
    <p:sldId id="273" r:id="rId15"/>
    <p:sldId id="274"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p:cViewPr varScale="1">
        <p:scale>
          <a:sx n="60" d="100"/>
          <a:sy n="60" d="100"/>
        </p:scale>
        <p:origin x="908" y="48"/>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3B725B-653D-4166-A8E9-72A38A1847CF}" type="datetimeFigureOut">
              <a:rPr lang="en-US"/>
              <a:t>9/29/2026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61E8E-D392-497B-BB21-122DD7C27CF3}" type="slidenum">
              <a:rPr/>
              <a:t>‹#›</a:t>
            </a:fld>
            <a:endParaRPr/>
          </a:p>
        </p:txBody>
      </p:sp>
    </p:spTree>
    <p:extLst>
      <p:ext uri="{BB962C8B-B14F-4D97-AF65-F5344CB8AC3E}">
        <p14:creationId xmlns:p14="http://schemas.microsoft.com/office/powerpoint/2010/main" val="120835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F64CD-0576-4A9A-BD06-7889D6E60BDC}" type="datetimeFigureOut">
              <a:rPr lang="en-US"/>
              <a:t>9/29/2026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5D449-B875-4B8D-8E66-224D27E54C9A}" type="slidenum">
              <a:rPr/>
              <a:t>‹#›</a:t>
            </a:fld>
            <a:endParaRPr/>
          </a:p>
        </p:txBody>
      </p:sp>
    </p:spTree>
    <p:extLst>
      <p:ext uri="{BB962C8B-B14F-4D97-AF65-F5344CB8AC3E}">
        <p14:creationId xmlns:p14="http://schemas.microsoft.com/office/powerpoint/2010/main" val="134997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flip="none" rotWithShape="1">
          <a:gsLst>
            <a:gs pos="0">
              <a:srgbClr val="D9D9D9"/>
            </a:gs>
            <a:gs pos="100000">
              <a:schemeClr val="bg1"/>
            </a:gs>
          </a:gsLst>
          <a:lin ang="81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26225" y="1828800"/>
            <a:ext cx="4098175" cy="3177380"/>
          </a:xfrm>
        </p:spPr>
        <p:txBody>
          <a:bodyPr anchor="b">
            <a:normAutofit/>
          </a:bodyPr>
          <a:lstStyle>
            <a:lvl1pPr algn="l">
              <a:lnSpc>
                <a:spcPct val="80000"/>
              </a:lnSpc>
              <a:defRPr sz="5400">
                <a:solidFill>
                  <a:schemeClr val="accent1"/>
                </a:solidFill>
              </a:defRPr>
            </a:lvl1pPr>
          </a:lstStyle>
          <a:p>
            <a:r>
              <a:rPr lang="en-US"/>
              <a:t>Click to edit Master title style</a:t>
            </a:r>
            <a:endParaRPr/>
          </a:p>
        </p:txBody>
      </p:sp>
      <p:sp>
        <p:nvSpPr>
          <p:cNvPr id="3" name="Subtitle 2"/>
          <p:cNvSpPr>
            <a:spLocks noGrp="1"/>
          </p:cNvSpPr>
          <p:nvPr>
            <p:ph type="subTitle" idx="1"/>
          </p:nvPr>
        </p:nvSpPr>
        <p:spPr>
          <a:xfrm>
            <a:off x="626225" y="5181600"/>
            <a:ext cx="4098175" cy="685800"/>
          </a:xfrm>
        </p:spPr>
        <p:txBody>
          <a:bodyPr>
            <a:normAutofit/>
          </a:bodyPr>
          <a:lstStyle>
            <a:lvl1pPr marL="0" indent="0" algn="l">
              <a:buNone/>
              <a:defRPr sz="2000" cap="all" baseline="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pic>
        <p:nvPicPr>
          <p:cNvPr id="7" name="Picture 6" descr="EKG line"/>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188688" y="-1"/>
            <a:ext cx="7000137" cy="6858001"/>
          </a:xfrm>
          <a:prstGeom prst="rect">
            <a:avLst/>
          </a:prstGeom>
        </p:spPr>
      </p:pic>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9/29/2026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p:bgPr>
        <a:gradFill flip="none" rotWithShape="1">
          <a:gsLst>
            <a:gs pos="0">
              <a:schemeClr val="accent1"/>
            </a:gs>
            <a:gs pos="100000">
              <a:schemeClr val="accent1">
                <a:lumMod val="75000"/>
              </a:schemeClr>
            </a:gs>
          </a:gsLst>
          <a:lin ang="5400000" scaled="0"/>
          <a:tileRect/>
        </a:gradFill>
        <a:effectLst/>
      </p:bgPr>
    </p:bg>
    <p:spTree>
      <p:nvGrpSpPr>
        <p:cNvPr id="1" name=""/>
        <p:cNvGrpSpPr/>
        <p:nvPr/>
      </p:nvGrpSpPr>
      <p:grpSpPr>
        <a:xfrm>
          <a:off x="0" y="0"/>
          <a:ext cx="0" cy="0"/>
          <a:chOff x="0" y="0"/>
          <a:chExt cx="0" cy="0"/>
        </a:xfrm>
      </p:grpSpPr>
      <p:sp>
        <p:nvSpPr>
          <p:cNvPr id="7" name="Rectangle 6" descr="Rectangle"/>
          <p:cNvSpPr/>
          <p:nvPr/>
        </p:nvSpPr>
        <p:spPr>
          <a:xfrm>
            <a:off x="265112" y="228600"/>
            <a:ext cx="11658600" cy="6400800"/>
          </a:xfrm>
          <a:prstGeom prst="rect">
            <a:avLst/>
          </a:prstGeom>
          <a:noFill/>
          <a:ln w="15875">
            <a:gradFill flip="none" rotWithShape="1">
              <a:gsLst>
                <a:gs pos="0">
                  <a:schemeClr val="bg1">
                    <a:lumMod val="75000"/>
                  </a:schemeClr>
                </a:gs>
                <a:gs pos="100000">
                  <a:schemeClr val="bg1"/>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066800" y="1828800"/>
            <a:ext cx="7772400" cy="3177380"/>
          </a:xfrm>
        </p:spPr>
        <p:txBody>
          <a:bodyPr anchor="b">
            <a:normAutofit/>
          </a:bodyPr>
          <a:lstStyle>
            <a:lvl1pPr>
              <a:lnSpc>
                <a:spcPct val="80000"/>
              </a:lnSpc>
              <a:defRPr sz="5400"/>
            </a:lvl1pPr>
          </a:lstStyle>
          <a:p>
            <a:r>
              <a:rPr lang="en-US"/>
              <a:t>Click to edit Master title style</a:t>
            </a:r>
            <a:endParaRPr/>
          </a:p>
        </p:txBody>
      </p:sp>
      <p:sp>
        <p:nvSpPr>
          <p:cNvPr id="3" name="Text Placeholder 2"/>
          <p:cNvSpPr>
            <a:spLocks noGrp="1"/>
          </p:cNvSpPr>
          <p:nvPr>
            <p:ph type="body" idx="1"/>
          </p:nvPr>
        </p:nvSpPr>
        <p:spPr>
          <a:xfrm>
            <a:off x="1066800" y="5181600"/>
            <a:ext cx="7772400" cy="685800"/>
          </a:xfrm>
        </p:spPr>
        <p:txBody>
          <a:bodyPr>
            <a:normAutofit/>
          </a:bodyPr>
          <a:lstStyle>
            <a:lvl1pPr marL="0" indent="0">
              <a:buNone/>
              <a:defRPr sz="2000" cap="all" baseline="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50677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0668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3246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37CC0096-1860-4642-9CD2-0079EA5E7CD1}" type="datetimeFigureOut">
              <a:rPr lang="en-US"/>
              <a:t>9/29/2026</a:t>
            </a:fld>
            <a:endParaRPr/>
          </a:p>
        </p:txBody>
      </p:sp>
      <p:sp>
        <p:nvSpPr>
          <p:cNvPr id="7" name="Slide Number Placeholder 6"/>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0668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68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3246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37CC0096-1860-4642-9CD2-0079EA5E7CD1}" type="datetimeFigureOut">
              <a:rPr lang="en-US"/>
              <a:t>9/29/2026</a:t>
            </a:fld>
            <a:endParaRPr/>
          </a:p>
        </p:txBody>
      </p:sp>
      <p:sp>
        <p:nvSpPr>
          <p:cNvPr id="9" name="Slide Number Placeholder 8"/>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37CC0096-1860-4642-9CD2-0079EA5E7CD1}" type="datetimeFigureOut">
              <a:rPr lang="en-US"/>
              <a:t>9/29/2026</a:t>
            </a:fld>
            <a:endParaRPr/>
          </a:p>
        </p:txBody>
      </p:sp>
      <p:sp>
        <p:nvSpPr>
          <p:cNvPr id="5" name="Slide Number Placeholder 4"/>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37CC0096-1860-4642-9CD2-0079EA5E7CD1}" type="datetimeFigureOut">
              <a:rPr lang="en-US"/>
              <a:t>9/29/2026</a:t>
            </a:fld>
            <a:endParaRPr/>
          </a:p>
        </p:txBody>
      </p:sp>
      <p:sp>
        <p:nvSpPr>
          <p:cNvPr id="4" name="Slide Number Placeholder 3"/>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2700" y="3200400"/>
            <a:ext cx="3932237" cy="1752600"/>
          </a:xfrm>
        </p:spPr>
        <p:txBody>
          <a:bodyPr anchor="b">
            <a:normAutofit/>
          </a:bodyPr>
          <a:lstStyle>
            <a:lvl1pPr>
              <a:defRPr sz="3600"/>
            </a:lvl1pPr>
          </a:lstStyle>
          <a:p>
            <a:r>
              <a:rPr lang="en-US"/>
              <a:t>Click to edit Master title style</a:t>
            </a:r>
            <a:endParaRPr/>
          </a:p>
        </p:txBody>
      </p:sp>
      <p:sp>
        <p:nvSpPr>
          <p:cNvPr id="3" name="Content Placeholder 2"/>
          <p:cNvSpPr>
            <a:spLocks noGrp="1"/>
          </p:cNvSpPr>
          <p:nvPr>
            <p:ph idx="1"/>
          </p:nvPr>
        </p:nvSpPr>
        <p:spPr>
          <a:xfrm>
            <a:off x="609600" y="457201"/>
            <a:ext cx="5943600" cy="5943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632699" y="5029200"/>
            <a:ext cx="3932237" cy="1371600"/>
          </a:xfrm>
        </p:spPr>
        <p:txBody>
          <a:bodyPr>
            <a:normAutofit/>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5240" y="3200400"/>
            <a:ext cx="3932237" cy="1752600"/>
          </a:xfrm>
        </p:spPr>
        <p:txBody>
          <a:bodyPr anchor="b">
            <a:normAutofit/>
          </a:bodyPr>
          <a:lstStyle>
            <a:lvl1pPr>
              <a:defRPr sz="360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 y="0"/>
            <a:ext cx="7008810" cy="6857999"/>
          </a:xfrm>
        </p:spPr>
        <p:txBody>
          <a:bodyPr tIns="4572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7635240" y="5029200"/>
            <a:ext cx="3932237" cy="137464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977249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9/29/2026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descr="Rectangle"/>
          <p:cNvSpPr/>
          <p:nvPr/>
        </p:nvSpPr>
        <p:spPr>
          <a:xfrm>
            <a:off x="9982200" y="0"/>
            <a:ext cx="2209800" cy="6858000"/>
          </a:xfrm>
          <a:prstGeom prst="rect">
            <a:avLst/>
          </a:prstGeom>
          <a:gradFill flip="none" rotWithShape="1">
            <a:gsLst>
              <a:gs pos="0">
                <a:schemeClr val="accent1"/>
              </a:gs>
              <a:gs pos="100000">
                <a:schemeClr val="accent1">
                  <a:lumMod val="7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058399" y="457201"/>
            <a:ext cx="2057401" cy="59436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609600" y="457200"/>
            <a:ext cx="9067800" cy="5943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9/29/2026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D9D9D9"/>
            </a:gs>
            <a:gs pos="100000">
              <a:schemeClr val="bg1"/>
            </a:gs>
          </a:gsLst>
          <a:lin ang="16200000" scaled="1"/>
          <a:tileRect/>
        </a:gradFill>
        <a:effectLst/>
      </p:bgPr>
    </p:bg>
    <p:spTree>
      <p:nvGrpSpPr>
        <p:cNvPr id="1" name=""/>
        <p:cNvGrpSpPr/>
        <p:nvPr/>
      </p:nvGrpSpPr>
      <p:grpSpPr>
        <a:xfrm>
          <a:off x="0" y="0"/>
          <a:ext cx="0" cy="0"/>
          <a:chOff x="0" y="0"/>
          <a:chExt cx="0" cy="0"/>
        </a:xfrm>
      </p:grpSpPr>
      <p:sp>
        <p:nvSpPr>
          <p:cNvPr id="7" name="red bar" descr="Red bar"/>
          <p:cNvSpPr/>
          <p:nvPr/>
        </p:nvSpPr>
        <p:spPr>
          <a:xfrm>
            <a:off x="1" y="1"/>
            <a:ext cx="12188824" cy="1524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1066800" y="99220"/>
            <a:ext cx="10058400" cy="1325563"/>
          </a:xfrm>
          <a:prstGeom prst="rect">
            <a:avLst/>
          </a:prstGeom>
        </p:spPr>
        <p:txBody>
          <a:bodyPr vert="horz" lIns="91440" tIns="45720" rIns="9144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1524000" y="1828799"/>
            <a:ext cx="9144000" cy="4572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066800" y="6481760"/>
            <a:ext cx="7848600" cy="239715"/>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9067800" y="6465885"/>
            <a:ext cx="1066800" cy="239715"/>
          </a:xfrm>
          <a:prstGeom prst="rect">
            <a:avLst/>
          </a:prstGeom>
        </p:spPr>
        <p:txBody>
          <a:bodyPr vert="horz" lIns="91440" tIns="45720" rIns="91440" bIns="45720" rtlCol="0" anchor="ctr"/>
          <a:lstStyle>
            <a:lvl1pPr algn="r">
              <a:defRPr sz="1100">
                <a:solidFill>
                  <a:schemeClr val="tx1"/>
                </a:solidFill>
              </a:defRPr>
            </a:lvl1pPr>
          </a:lstStyle>
          <a:p>
            <a:fld id="{37CC0096-1860-4642-9CD2-0079EA5E7CD1}" type="datetimeFigureOut">
              <a:rPr lang="en-US" smtClean="0"/>
              <a:pPr/>
              <a:t>9/29/2026</a:t>
            </a:fld>
            <a:endParaRPr lang="en-US" dirty="0"/>
          </a:p>
        </p:txBody>
      </p:sp>
      <p:sp>
        <p:nvSpPr>
          <p:cNvPr id="6" name="Slide Number Placeholder 5"/>
          <p:cNvSpPr>
            <a:spLocks noGrp="1"/>
          </p:cNvSpPr>
          <p:nvPr>
            <p:ph type="sldNum" sz="quarter" idx="4"/>
          </p:nvPr>
        </p:nvSpPr>
        <p:spPr>
          <a:xfrm>
            <a:off x="10287000" y="6481760"/>
            <a:ext cx="838200" cy="239715"/>
          </a:xfrm>
          <a:prstGeom prst="rect">
            <a:avLst/>
          </a:prstGeom>
        </p:spPr>
        <p:txBody>
          <a:bodyPr vert="horz" lIns="91440" tIns="45720" rIns="91440" bIns="45720" rtlCol="0" anchor="ctr"/>
          <a:lstStyle>
            <a:lvl1pPr algn="r">
              <a:defRPr sz="1100">
                <a:solidFill>
                  <a:schemeClr val="tx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hyperlink" Target="https://www.youtube.com/watch?v=ef4CAu-OwvM&amp;t=1752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609600"/>
            <a:ext cx="4098175" cy="3177380"/>
          </a:xfrm>
        </p:spPr>
        <p:txBody>
          <a:bodyPr>
            <a:normAutofit/>
          </a:bodyPr>
          <a:lstStyle/>
          <a:p>
            <a:r>
              <a:rPr lang="en-US" sz="2800" dirty="0"/>
              <a:t>Patient Encounter Analysis: Demographics, Utilization, and Preventative Insights</a:t>
            </a:r>
            <a:endParaRPr lang="en-US" sz="2500" dirty="0"/>
          </a:p>
        </p:txBody>
      </p:sp>
      <p:sp>
        <p:nvSpPr>
          <p:cNvPr id="3" name="Subtitle 2"/>
          <p:cNvSpPr>
            <a:spLocks noGrp="1"/>
          </p:cNvSpPr>
          <p:nvPr>
            <p:ph type="subTitle" idx="1"/>
          </p:nvPr>
        </p:nvSpPr>
        <p:spPr/>
        <p:txBody>
          <a:bodyPr/>
          <a:lstStyle/>
          <a:p>
            <a:r>
              <a:rPr lang="en-US" dirty="0"/>
              <a:t>By: Javaris knight</a:t>
            </a:r>
          </a:p>
        </p:txBody>
      </p:sp>
    </p:spTree>
    <p:extLst>
      <p:ext uri="{BB962C8B-B14F-4D97-AF65-F5344CB8AC3E}">
        <p14:creationId xmlns:p14="http://schemas.microsoft.com/office/powerpoint/2010/main" val="43514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Purpose &amp; Objectives</a:t>
            </a:r>
          </a:p>
        </p:txBody>
      </p:sp>
      <p:sp>
        <p:nvSpPr>
          <p:cNvPr id="3" name="Content Placeholder 2"/>
          <p:cNvSpPr>
            <a:spLocks noGrp="1"/>
          </p:cNvSpPr>
          <p:nvPr>
            <p:ph idx="1"/>
          </p:nvPr>
        </p:nvSpPr>
        <p:spPr/>
        <p:txBody>
          <a:bodyPr>
            <a:normAutofit fontScale="92500" lnSpcReduction="10000"/>
          </a:bodyPr>
          <a:lstStyle/>
          <a:p>
            <a:r>
              <a:rPr lang="en-US" b="1" dirty="0"/>
              <a:t>Primary Goal:</a:t>
            </a:r>
            <a:endParaRPr lang="en-US" dirty="0"/>
          </a:p>
          <a:p>
            <a:r>
              <a:rPr lang="en-US" dirty="0"/>
              <a:t>To evaluate patient demographic patterns and healthcare utilization drivers across medical practices, identifying where operational resources, clinical interventions, and facility capacity are concentrated most.</a:t>
            </a:r>
          </a:p>
          <a:p>
            <a:r>
              <a:rPr lang="en-US" b="1" dirty="0"/>
              <a:t>Core Objectives:</a:t>
            </a:r>
            <a:endParaRPr lang="en-US" dirty="0"/>
          </a:p>
          <a:p>
            <a:pPr lvl="0"/>
            <a:r>
              <a:rPr lang="en-US" b="1" dirty="0"/>
              <a:t>Demographic Profiling:</a:t>
            </a:r>
            <a:r>
              <a:rPr lang="en-US" dirty="0"/>
              <a:t> Identify key age cohorts accessing care and evaluate their service usage.</a:t>
            </a:r>
          </a:p>
          <a:p>
            <a:pPr lvl="0"/>
            <a:r>
              <a:rPr lang="en-US" b="1" dirty="0"/>
              <a:t>Resource Allocation:</a:t>
            </a:r>
            <a:r>
              <a:rPr lang="en-US" dirty="0"/>
              <a:t> Determine which diagnoses and body systems generate the highest encounter volume and financial claims.</a:t>
            </a:r>
          </a:p>
          <a:p>
            <a:pPr lvl="0"/>
            <a:r>
              <a:rPr lang="en-US" b="1" dirty="0"/>
              <a:t>Clinical Risk Identification:</a:t>
            </a:r>
            <a:r>
              <a:rPr lang="en-US" dirty="0"/>
              <a:t> Uncover unexpected utilization patterns to inform early screening and targeted preventative care strategies.</a:t>
            </a:r>
          </a:p>
        </p:txBody>
      </p:sp>
    </p:spTree>
    <p:extLst>
      <p:ext uri="{BB962C8B-B14F-4D97-AF65-F5344CB8AC3E}">
        <p14:creationId xmlns:p14="http://schemas.microsoft.com/office/powerpoint/2010/main" val="1772969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Analytical Questions</a:t>
            </a:r>
          </a:p>
        </p:txBody>
      </p:sp>
      <p:sp>
        <p:nvSpPr>
          <p:cNvPr id="3" name="Content Placeholder 2"/>
          <p:cNvSpPr>
            <a:spLocks noGrp="1"/>
          </p:cNvSpPr>
          <p:nvPr>
            <p:ph sz="half" idx="1"/>
          </p:nvPr>
        </p:nvSpPr>
        <p:spPr>
          <a:xfrm>
            <a:off x="1066800" y="1825624"/>
            <a:ext cx="10058400" cy="4575175"/>
          </a:xfrm>
        </p:spPr>
        <p:txBody>
          <a:bodyPr>
            <a:normAutofit/>
          </a:bodyPr>
          <a:lstStyle/>
          <a:p>
            <a:r>
              <a:rPr lang="en-US" b="1" dirty="0"/>
              <a:t>Key Business &amp; Clinical Questions Investigated:</a:t>
            </a:r>
            <a:endParaRPr lang="en-US" dirty="0"/>
          </a:p>
          <a:p>
            <a:pPr lvl="0"/>
            <a:r>
              <a:rPr lang="en-US" b="1" dirty="0"/>
              <a:t>Patient Demographics:</a:t>
            </a:r>
            <a:r>
              <a:rPr lang="en-US" dirty="0"/>
              <a:t> How many unique patients are in the dataset?</a:t>
            </a:r>
          </a:p>
          <a:p>
            <a:pPr lvl="0"/>
            <a:r>
              <a:rPr lang="en-US" b="1" dirty="0"/>
              <a:t>Condition Prevalence:</a:t>
            </a:r>
            <a:r>
              <a:rPr lang="en-US" dirty="0"/>
              <a:t> What are the most common diagnoses or health conditions?</a:t>
            </a:r>
          </a:p>
          <a:p>
            <a:pPr lvl="0"/>
            <a:r>
              <a:rPr lang="en-US" b="1" dirty="0"/>
              <a:t>Demographic Trends:</a:t>
            </a:r>
            <a:r>
              <a:rPr lang="en-US" dirty="0"/>
              <a:t> Which age groups have the most healthcare encounters?</a:t>
            </a:r>
          </a:p>
          <a:p>
            <a:pPr lvl="0"/>
            <a:r>
              <a:rPr lang="en-US" b="1" dirty="0"/>
              <a:t>Utilization Patterns:</a:t>
            </a:r>
            <a:r>
              <a:rPr lang="en-US" dirty="0"/>
              <a:t> What is the average number of visits per patient?</a:t>
            </a:r>
          </a:p>
          <a:p>
            <a:pPr lvl="0"/>
            <a:r>
              <a:rPr lang="en-US" b="1" dirty="0"/>
              <a:t>Resource Impact:</a:t>
            </a:r>
            <a:r>
              <a:rPr lang="en-US" dirty="0"/>
              <a:t> Which conditions or patient groups have the highest healthcare utilization?</a:t>
            </a:r>
          </a:p>
        </p:txBody>
      </p:sp>
    </p:spTree>
    <p:extLst>
      <p:ext uri="{BB962C8B-B14F-4D97-AF65-F5344CB8AC3E}">
        <p14:creationId xmlns:p14="http://schemas.microsoft.com/office/powerpoint/2010/main" val="273862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A8360-5CA7-1E1F-26B6-9E06F343F5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13D73-D090-DD20-90C1-3C4DE4849D9E}"/>
              </a:ext>
            </a:extLst>
          </p:cNvPr>
          <p:cNvSpPr>
            <a:spLocks noGrp="1"/>
          </p:cNvSpPr>
          <p:nvPr>
            <p:ph type="title"/>
          </p:nvPr>
        </p:nvSpPr>
        <p:spPr/>
        <p:txBody>
          <a:bodyPr/>
          <a:lstStyle/>
          <a:p>
            <a:r>
              <a:rPr lang="en-US" b="1" dirty="0"/>
              <a:t>How I Used SQL (PostgreSQL)</a:t>
            </a:r>
            <a:endParaRPr lang="en-US" dirty="0"/>
          </a:p>
        </p:txBody>
      </p:sp>
      <p:sp>
        <p:nvSpPr>
          <p:cNvPr id="3" name="Content Placeholder 2">
            <a:extLst>
              <a:ext uri="{FF2B5EF4-FFF2-40B4-BE49-F238E27FC236}">
                <a16:creationId xmlns:a16="http://schemas.microsoft.com/office/drawing/2014/main" id="{1C3EAD8E-8510-2E72-2CBB-8F2C21C20AAF}"/>
              </a:ext>
            </a:extLst>
          </p:cNvPr>
          <p:cNvSpPr>
            <a:spLocks noGrp="1"/>
          </p:cNvSpPr>
          <p:nvPr>
            <p:ph sz="half" idx="1"/>
          </p:nvPr>
        </p:nvSpPr>
        <p:spPr>
          <a:xfrm>
            <a:off x="1066800" y="1825624"/>
            <a:ext cx="10058400" cy="4575175"/>
          </a:xfrm>
        </p:spPr>
        <p:txBody>
          <a:bodyPr>
            <a:normAutofit/>
          </a:bodyPr>
          <a:lstStyle/>
          <a:p>
            <a:r>
              <a:rPr lang="en-US" dirty="0"/>
              <a:t>I used SQL as my primary query and data exploration tool to answer my core business questions. </a:t>
            </a:r>
          </a:p>
          <a:p>
            <a:r>
              <a:rPr lang="en-US" dirty="0"/>
              <a:t>I wrote SQL queries to filter and join tables, aggregate key metrics, and inspect the database for missing or duplicate values. </a:t>
            </a:r>
          </a:p>
          <a:p>
            <a:r>
              <a:rPr lang="en-US" dirty="0"/>
              <a:t>Once I executed the queries to retrieve the exact data needed for my analysis, I exported the resulting datasets to bring into Python.</a:t>
            </a:r>
          </a:p>
        </p:txBody>
      </p:sp>
    </p:spTree>
    <p:extLst>
      <p:ext uri="{BB962C8B-B14F-4D97-AF65-F5344CB8AC3E}">
        <p14:creationId xmlns:p14="http://schemas.microsoft.com/office/powerpoint/2010/main" val="2621127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C7F2C-AD52-6CEB-EA8F-9671ED9B64B9}"/>
              </a:ext>
            </a:extLst>
          </p:cNvPr>
          <p:cNvSpPr>
            <a:spLocks noGrp="1"/>
          </p:cNvSpPr>
          <p:nvPr>
            <p:ph type="title"/>
          </p:nvPr>
        </p:nvSpPr>
        <p:spPr/>
        <p:txBody>
          <a:bodyPr/>
          <a:lstStyle/>
          <a:p>
            <a:r>
              <a:rPr lang="en-US" dirty="0"/>
              <a:t>Question 1:How many unique patients are in the database?</a:t>
            </a:r>
          </a:p>
        </p:txBody>
      </p:sp>
      <p:sp>
        <p:nvSpPr>
          <p:cNvPr id="3" name="Content Placeholder 2">
            <a:extLst>
              <a:ext uri="{FF2B5EF4-FFF2-40B4-BE49-F238E27FC236}">
                <a16:creationId xmlns:a16="http://schemas.microsoft.com/office/drawing/2014/main" id="{CCCC61BD-4C60-44BD-B576-F777379640CE}"/>
              </a:ext>
            </a:extLst>
          </p:cNvPr>
          <p:cNvSpPr>
            <a:spLocks noGrp="1"/>
          </p:cNvSpPr>
          <p:nvPr>
            <p:ph sz="half" idx="1"/>
          </p:nvPr>
        </p:nvSpPr>
        <p:spPr/>
        <p:txBody>
          <a:bodyPr/>
          <a:lstStyle/>
          <a:p>
            <a:r>
              <a:rPr lang="en-US" dirty="0"/>
              <a:t>SELECT COUNT(DISTINCT Id) AS </a:t>
            </a:r>
            <a:r>
              <a:rPr lang="en-US" dirty="0" err="1"/>
              <a:t>unique_patient_count</a:t>
            </a:r>
            <a:r>
              <a:rPr lang="en-US" dirty="0"/>
              <a:t> FROM patients;</a:t>
            </a:r>
          </a:p>
        </p:txBody>
      </p:sp>
      <p:pic>
        <p:nvPicPr>
          <p:cNvPr id="12" name="Content Placeholder 11">
            <a:extLst>
              <a:ext uri="{FF2B5EF4-FFF2-40B4-BE49-F238E27FC236}">
                <a16:creationId xmlns:a16="http://schemas.microsoft.com/office/drawing/2014/main" id="{BB2FC6B2-4D25-ED3B-C0D4-C75169056903}"/>
              </a:ext>
            </a:extLst>
          </p:cNvPr>
          <p:cNvPicPr>
            <a:picLocks noGrp="1" noChangeAspect="1"/>
          </p:cNvPicPr>
          <p:nvPr>
            <p:ph sz="half" idx="2"/>
          </p:nvPr>
        </p:nvPicPr>
        <p:blipFill>
          <a:blip r:embed="rId2"/>
          <a:stretch>
            <a:fillRect/>
          </a:stretch>
        </p:blipFill>
        <p:spPr>
          <a:xfrm>
            <a:off x="2971800" y="3276600"/>
            <a:ext cx="7467600" cy="3213032"/>
          </a:xfrm>
          <a:prstGeom prst="rect">
            <a:avLst/>
          </a:prstGeom>
        </p:spPr>
      </p:pic>
    </p:spTree>
    <p:extLst>
      <p:ext uri="{BB962C8B-B14F-4D97-AF65-F5344CB8AC3E}">
        <p14:creationId xmlns:p14="http://schemas.microsoft.com/office/powerpoint/2010/main" val="3774106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EAE53-0AD6-6496-DAB8-BD5DD8F8D7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BAB248-2511-3D4B-E61C-45A27314EA44}"/>
              </a:ext>
            </a:extLst>
          </p:cNvPr>
          <p:cNvSpPr>
            <a:spLocks noGrp="1"/>
          </p:cNvSpPr>
          <p:nvPr>
            <p:ph type="title"/>
          </p:nvPr>
        </p:nvSpPr>
        <p:spPr/>
        <p:txBody>
          <a:bodyPr/>
          <a:lstStyle/>
          <a:p>
            <a:r>
              <a:rPr lang="en-US" dirty="0"/>
              <a:t>Question 2: What are the most common diagnoses or health conditions</a:t>
            </a:r>
          </a:p>
        </p:txBody>
      </p:sp>
      <p:sp>
        <p:nvSpPr>
          <p:cNvPr id="3" name="Content Placeholder 2">
            <a:extLst>
              <a:ext uri="{FF2B5EF4-FFF2-40B4-BE49-F238E27FC236}">
                <a16:creationId xmlns:a16="http://schemas.microsoft.com/office/drawing/2014/main" id="{5E5E8E88-A252-1770-5A7D-88C0718F30D0}"/>
              </a:ext>
            </a:extLst>
          </p:cNvPr>
          <p:cNvSpPr>
            <a:spLocks noGrp="1"/>
          </p:cNvSpPr>
          <p:nvPr>
            <p:ph sz="half" idx="1"/>
          </p:nvPr>
        </p:nvSpPr>
        <p:spPr>
          <a:xfrm>
            <a:off x="304800" y="1757328"/>
            <a:ext cx="3200400" cy="3965576"/>
          </a:xfrm>
        </p:spPr>
        <p:txBody>
          <a:bodyPr>
            <a:noAutofit/>
          </a:bodyPr>
          <a:lstStyle/>
          <a:p>
            <a:r>
              <a:rPr lang="en-US" sz="1600" dirty="0"/>
              <a:t>SELECT </a:t>
            </a:r>
          </a:p>
          <a:p>
            <a:pPr marL="0" indent="0">
              <a:buNone/>
            </a:pPr>
            <a:r>
              <a:rPr lang="en-US" sz="1600" dirty="0"/>
              <a:t>    CODE,</a:t>
            </a:r>
          </a:p>
          <a:p>
            <a:pPr marL="0" indent="0">
              <a:buNone/>
            </a:pPr>
            <a:r>
              <a:rPr lang="en-US" sz="1600" dirty="0"/>
              <a:t>    DESCRIPTION,</a:t>
            </a:r>
          </a:p>
          <a:p>
            <a:pPr marL="0" indent="0">
              <a:buNone/>
            </a:pPr>
            <a:r>
              <a:rPr lang="en-US" sz="1600" dirty="0"/>
              <a:t>   COUNT(*) AS </a:t>
            </a:r>
            <a:r>
              <a:rPr lang="en-US" sz="1600" dirty="0" err="1"/>
              <a:t>condition_count</a:t>
            </a:r>
            <a:endParaRPr lang="en-US" sz="1600" dirty="0"/>
          </a:p>
          <a:p>
            <a:pPr marL="0" indent="0">
              <a:buNone/>
            </a:pPr>
            <a:r>
              <a:rPr lang="en-US" sz="1600" dirty="0"/>
              <a:t>FROM conditions</a:t>
            </a:r>
          </a:p>
          <a:p>
            <a:pPr marL="0" indent="0">
              <a:buNone/>
            </a:pPr>
            <a:r>
              <a:rPr lang="en-US" sz="1600" dirty="0"/>
              <a:t>GROUP BY </a:t>
            </a:r>
          </a:p>
          <a:p>
            <a:pPr marL="0" indent="0">
              <a:buNone/>
            </a:pPr>
            <a:r>
              <a:rPr lang="en-US" sz="1600" dirty="0"/>
              <a:t>    CODE, </a:t>
            </a:r>
          </a:p>
          <a:p>
            <a:pPr marL="0" indent="0">
              <a:buNone/>
            </a:pPr>
            <a:r>
              <a:rPr lang="en-US" sz="1600" dirty="0"/>
              <a:t>    DESCRIPTION</a:t>
            </a:r>
          </a:p>
          <a:p>
            <a:r>
              <a:rPr lang="en-US" sz="1600" dirty="0"/>
              <a:t>ORDER BY </a:t>
            </a:r>
            <a:r>
              <a:rPr lang="en-US" sz="1600" dirty="0" err="1"/>
              <a:t>condition_count</a:t>
            </a:r>
            <a:r>
              <a:rPr lang="en-US" sz="1600" dirty="0"/>
              <a:t> DESC;</a:t>
            </a:r>
          </a:p>
        </p:txBody>
      </p:sp>
      <p:sp>
        <p:nvSpPr>
          <p:cNvPr id="5" name="Content Placeholder 4">
            <a:extLst>
              <a:ext uri="{FF2B5EF4-FFF2-40B4-BE49-F238E27FC236}">
                <a16:creationId xmlns:a16="http://schemas.microsoft.com/office/drawing/2014/main" id="{B51987F2-8ED4-61A4-A259-D6A7A0C24D3E}"/>
              </a:ext>
            </a:extLst>
          </p:cNvPr>
          <p:cNvSpPr>
            <a:spLocks noGrp="1"/>
          </p:cNvSpPr>
          <p:nvPr>
            <p:ph sz="half" idx="2"/>
          </p:nvPr>
        </p:nvSpPr>
        <p:spPr/>
        <p:txBody>
          <a:bodyPr/>
          <a:lstStyle/>
          <a:p>
            <a:endParaRPr lang="en-US"/>
          </a:p>
        </p:txBody>
      </p:sp>
      <p:pic>
        <p:nvPicPr>
          <p:cNvPr id="7" name="Picture 6">
            <a:extLst>
              <a:ext uri="{FF2B5EF4-FFF2-40B4-BE49-F238E27FC236}">
                <a16:creationId xmlns:a16="http://schemas.microsoft.com/office/drawing/2014/main" id="{BFF8FCFA-546D-4DDF-142B-DBC212E3D12F}"/>
              </a:ext>
            </a:extLst>
          </p:cNvPr>
          <p:cNvPicPr>
            <a:picLocks noChangeAspect="1"/>
          </p:cNvPicPr>
          <p:nvPr/>
        </p:nvPicPr>
        <p:blipFill>
          <a:blip r:embed="rId2"/>
          <a:stretch>
            <a:fillRect/>
          </a:stretch>
        </p:blipFill>
        <p:spPr>
          <a:xfrm>
            <a:off x="4343400" y="1735557"/>
            <a:ext cx="7043057" cy="4579625"/>
          </a:xfrm>
          <a:prstGeom prst="rect">
            <a:avLst/>
          </a:prstGeom>
        </p:spPr>
      </p:pic>
    </p:spTree>
    <p:extLst>
      <p:ext uri="{BB962C8B-B14F-4D97-AF65-F5344CB8AC3E}">
        <p14:creationId xmlns:p14="http://schemas.microsoft.com/office/powerpoint/2010/main" val="1714207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0C56F-A6E1-B472-3AB2-8EF669E07345}"/>
              </a:ext>
            </a:extLst>
          </p:cNvPr>
          <p:cNvSpPr>
            <a:spLocks noGrp="1"/>
          </p:cNvSpPr>
          <p:nvPr>
            <p:ph type="title"/>
          </p:nvPr>
        </p:nvSpPr>
        <p:spPr/>
        <p:txBody>
          <a:bodyPr/>
          <a:lstStyle/>
          <a:p>
            <a:r>
              <a:rPr lang="en-US" dirty="0"/>
              <a:t>Question 3: Which age groups had the most healthcare encounters?</a:t>
            </a:r>
          </a:p>
        </p:txBody>
      </p:sp>
      <p:sp>
        <p:nvSpPr>
          <p:cNvPr id="7" name="Content Placeholder 6">
            <a:extLst>
              <a:ext uri="{FF2B5EF4-FFF2-40B4-BE49-F238E27FC236}">
                <a16:creationId xmlns:a16="http://schemas.microsoft.com/office/drawing/2014/main" id="{0099F697-4223-B81F-390C-CB95222AD082}"/>
              </a:ext>
            </a:extLst>
          </p:cNvPr>
          <p:cNvSpPr>
            <a:spLocks noGrp="1"/>
          </p:cNvSpPr>
          <p:nvPr>
            <p:ph sz="half" idx="2"/>
          </p:nvPr>
        </p:nvSpPr>
        <p:spPr/>
        <p:txBody>
          <a:bodyPr/>
          <a:lstStyle/>
          <a:p>
            <a:endParaRPr lang="en-US"/>
          </a:p>
        </p:txBody>
      </p:sp>
      <p:pic>
        <p:nvPicPr>
          <p:cNvPr id="11" name="Content Placeholder 10">
            <a:extLst>
              <a:ext uri="{FF2B5EF4-FFF2-40B4-BE49-F238E27FC236}">
                <a16:creationId xmlns:a16="http://schemas.microsoft.com/office/drawing/2014/main" id="{B784359A-B475-ED38-9CD6-2C3D996F73DC}"/>
              </a:ext>
            </a:extLst>
          </p:cNvPr>
          <p:cNvPicPr>
            <a:picLocks noGrp="1" noChangeAspect="1"/>
          </p:cNvPicPr>
          <p:nvPr>
            <p:ph sz="half" idx="1"/>
          </p:nvPr>
        </p:nvPicPr>
        <p:blipFill>
          <a:blip r:embed="rId2"/>
          <a:stretch>
            <a:fillRect/>
          </a:stretch>
        </p:blipFill>
        <p:spPr>
          <a:xfrm>
            <a:off x="76200" y="1533921"/>
            <a:ext cx="5486400" cy="5158580"/>
          </a:xfrm>
          <a:prstGeom prst="rect">
            <a:avLst/>
          </a:prstGeom>
        </p:spPr>
      </p:pic>
      <p:pic>
        <p:nvPicPr>
          <p:cNvPr id="15" name="Picture 14">
            <a:extLst>
              <a:ext uri="{FF2B5EF4-FFF2-40B4-BE49-F238E27FC236}">
                <a16:creationId xmlns:a16="http://schemas.microsoft.com/office/drawing/2014/main" id="{8647C42D-6778-AE53-5040-8ACEB08830A2}"/>
              </a:ext>
            </a:extLst>
          </p:cNvPr>
          <p:cNvPicPr>
            <a:picLocks noChangeAspect="1"/>
          </p:cNvPicPr>
          <p:nvPr/>
        </p:nvPicPr>
        <p:blipFill>
          <a:blip r:embed="rId3"/>
          <a:stretch>
            <a:fillRect/>
          </a:stretch>
        </p:blipFill>
        <p:spPr>
          <a:xfrm>
            <a:off x="5715000" y="1597023"/>
            <a:ext cx="6234270" cy="5032376"/>
          </a:xfrm>
          <a:prstGeom prst="rect">
            <a:avLst/>
          </a:prstGeom>
        </p:spPr>
      </p:pic>
    </p:spTree>
    <p:extLst>
      <p:ext uri="{BB962C8B-B14F-4D97-AF65-F5344CB8AC3E}">
        <p14:creationId xmlns:p14="http://schemas.microsoft.com/office/powerpoint/2010/main" val="1275782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B6764-0CF2-61B7-E953-0CE416A484DE}"/>
              </a:ext>
            </a:extLst>
          </p:cNvPr>
          <p:cNvSpPr>
            <a:spLocks noGrp="1"/>
          </p:cNvSpPr>
          <p:nvPr>
            <p:ph type="title"/>
          </p:nvPr>
        </p:nvSpPr>
        <p:spPr/>
        <p:txBody>
          <a:bodyPr/>
          <a:lstStyle/>
          <a:p>
            <a:r>
              <a:rPr lang="en-US" dirty="0"/>
              <a:t>Question 4: What is the average number of visits per patient?</a:t>
            </a:r>
          </a:p>
        </p:txBody>
      </p:sp>
      <p:sp>
        <p:nvSpPr>
          <p:cNvPr id="3" name="Content Placeholder 2">
            <a:extLst>
              <a:ext uri="{FF2B5EF4-FFF2-40B4-BE49-F238E27FC236}">
                <a16:creationId xmlns:a16="http://schemas.microsoft.com/office/drawing/2014/main" id="{A5EE8219-7AC9-D050-50C6-30E16EAC4E3A}"/>
              </a:ext>
            </a:extLst>
          </p:cNvPr>
          <p:cNvSpPr>
            <a:spLocks noGrp="1"/>
          </p:cNvSpPr>
          <p:nvPr>
            <p:ph sz="half" idx="1"/>
          </p:nvPr>
        </p:nvSpPr>
        <p:spPr/>
        <p:txBody>
          <a:bodyPr/>
          <a:lstStyle/>
          <a:p>
            <a:pPr marL="0" indent="0">
              <a:buNone/>
            </a:pPr>
            <a:r>
              <a:rPr lang="en-US" dirty="0"/>
              <a:t>SELECT </a:t>
            </a:r>
          </a:p>
          <a:p>
            <a:pPr marL="0" indent="0">
              <a:buNone/>
            </a:pPr>
            <a:r>
              <a:rPr lang="en-US" dirty="0"/>
              <a:t> COUNT(Id) * 1.0 / COUNT(DISTINCT PATIENT) AS </a:t>
            </a:r>
            <a:r>
              <a:rPr lang="en-US" dirty="0" err="1"/>
              <a:t>avg_visits_per_patient</a:t>
            </a:r>
            <a:endParaRPr lang="en-US" dirty="0"/>
          </a:p>
          <a:p>
            <a:pPr marL="0" indent="0">
              <a:buNone/>
            </a:pPr>
            <a:r>
              <a:rPr lang="en-US" dirty="0"/>
              <a:t>FROM encounters;</a:t>
            </a:r>
          </a:p>
        </p:txBody>
      </p:sp>
      <p:pic>
        <p:nvPicPr>
          <p:cNvPr id="6" name="Content Placeholder 5">
            <a:extLst>
              <a:ext uri="{FF2B5EF4-FFF2-40B4-BE49-F238E27FC236}">
                <a16:creationId xmlns:a16="http://schemas.microsoft.com/office/drawing/2014/main" id="{F51369B8-88BC-9CB1-67C8-AAA7630302AD}"/>
              </a:ext>
            </a:extLst>
          </p:cNvPr>
          <p:cNvPicPr>
            <a:picLocks noGrp="1" noChangeAspect="1"/>
          </p:cNvPicPr>
          <p:nvPr>
            <p:ph sz="half" idx="2"/>
          </p:nvPr>
        </p:nvPicPr>
        <p:blipFill>
          <a:blip r:embed="rId2"/>
          <a:stretch>
            <a:fillRect/>
          </a:stretch>
        </p:blipFill>
        <p:spPr>
          <a:xfrm>
            <a:off x="5867400" y="2275167"/>
            <a:ext cx="5867400" cy="3676087"/>
          </a:xfrm>
          <a:prstGeom prst="rect">
            <a:avLst/>
          </a:prstGeom>
        </p:spPr>
      </p:pic>
    </p:spTree>
    <p:extLst>
      <p:ext uri="{BB962C8B-B14F-4D97-AF65-F5344CB8AC3E}">
        <p14:creationId xmlns:p14="http://schemas.microsoft.com/office/powerpoint/2010/main" val="138559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32EF0-E26C-0688-12F5-E8765B68107A}"/>
              </a:ext>
            </a:extLst>
          </p:cNvPr>
          <p:cNvSpPr>
            <a:spLocks noGrp="1"/>
          </p:cNvSpPr>
          <p:nvPr>
            <p:ph type="title"/>
          </p:nvPr>
        </p:nvSpPr>
        <p:spPr/>
        <p:txBody>
          <a:bodyPr/>
          <a:lstStyle/>
          <a:p>
            <a:r>
              <a:rPr lang="en-US" dirty="0"/>
              <a:t>Question 5: Question 5: Which conditions have the highest healthcare utilization (by total cost)?</a:t>
            </a:r>
          </a:p>
        </p:txBody>
      </p:sp>
      <p:pic>
        <p:nvPicPr>
          <p:cNvPr id="8" name="Content Placeholder 7">
            <a:extLst>
              <a:ext uri="{FF2B5EF4-FFF2-40B4-BE49-F238E27FC236}">
                <a16:creationId xmlns:a16="http://schemas.microsoft.com/office/drawing/2014/main" id="{CE9785C8-B911-AEF0-E8FB-05E12E9F99AA}"/>
              </a:ext>
            </a:extLst>
          </p:cNvPr>
          <p:cNvPicPr>
            <a:picLocks noGrp="1" noChangeAspect="1"/>
          </p:cNvPicPr>
          <p:nvPr>
            <p:ph sz="half" idx="1"/>
          </p:nvPr>
        </p:nvPicPr>
        <p:blipFill>
          <a:blip r:embed="rId2"/>
          <a:stretch>
            <a:fillRect/>
          </a:stretch>
        </p:blipFill>
        <p:spPr>
          <a:xfrm>
            <a:off x="1047307" y="1676400"/>
            <a:ext cx="4800600" cy="4572000"/>
          </a:xfrm>
          <a:prstGeom prst="rect">
            <a:avLst/>
          </a:prstGeom>
        </p:spPr>
      </p:pic>
      <p:pic>
        <p:nvPicPr>
          <p:cNvPr id="6" name="Content Placeholder 5">
            <a:extLst>
              <a:ext uri="{FF2B5EF4-FFF2-40B4-BE49-F238E27FC236}">
                <a16:creationId xmlns:a16="http://schemas.microsoft.com/office/drawing/2014/main" id="{3A127F01-F886-5B71-6A58-8F3B11E30779}"/>
              </a:ext>
            </a:extLst>
          </p:cNvPr>
          <p:cNvPicPr>
            <a:picLocks noGrp="1" noChangeAspect="1"/>
          </p:cNvPicPr>
          <p:nvPr>
            <p:ph sz="half" idx="2"/>
          </p:nvPr>
        </p:nvPicPr>
        <p:blipFill>
          <a:blip r:embed="rId3"/>
          <a:stretch>
            <a:fillRect/>
          </a:stretch>
        </p:blipFill>
        <p:spPr>
          <a:xfrm>
            <a:off x="6103088" y="1676400"/>
            <a:ext cx="5638800" cy="4495800"/>
          </a:xfrm>
          <a:prstGeom prst="rect">
            <a:avLst/>
          </a:prstGeom>
        </p:spPr>
      </p:pic>
    </p:spTree>
    <p:extLst>
      <p:ext uri="{BB962C8B-B14F-4D97-AF65-F5344CB8AC3E}">
        <p14:creationId xmlns:p14="http://schemas.microsoft.com/office/powerpoint/2010/main" val="1529386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644D4-703F-1942-94A4-B7E60BA4F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166991-BC07-7F2F-25FE-6A1D3D8E9A8D}"/>
              </a:ext>
            </a:extLst>
          </p:cNvPr>
          <p:cNvSpPr>
            <a:spLocks noGrp="1"/>
          </p:cNvSpPr>
          <p:nvPr>
            <p:ph type="title"/>
          </p:nvPr>
        </p:nvSpPr>
        <p:spPr/>
        <p:txBody>
          <a:bodyPr/>
          <a:lstStyle/>
          <a:p>
            <a:r>
              <a:rPr lang="en-US" dirty="0"/>
              <a:t>Dataset Overview</a:t>
            </a:r>
          </a:p>
        </p:txBody>
      </p:sp>
      <p:sp>
        <p:nvSpPr>
          <p:cNvPr id="3" name="Content Placeholder 2">
            <a:extLst>
              <a:ext uri="{FF2B5EF4-FFF2-40B4-BE49-F238E27FC236}">
                <a16:creationId xmlns:a16="http://schemas.microsoft.com/office/drawing/2014/main" id="{DB9FD65E-17DF-9CDD-6955-0023FD21E294}"/>
              </a:ext>
            </a:extLst>
          </p:cNvPr>
          <p:cNvSpPr>
            <a:spLocks noGrp="1"/>
          </p:cNvSpPr>
          <p:nvPr>
            <p:ph idx="1"/>
          </p:nvPr>
        </p:nvSpPr>
        <p:spPr/>
        <p:txBody>
          <a:bodyPr>
            <a:normAutofit fontScale="70000" lnSpcReduction="20000"/>
          </a:bodyPr>
          <a:lstStyle/>
          <a:p>
            <a:r>
              <a:rPr lang="en-US" b="1" dirty="0"/>
              <a:t>Database Type &amp; Origin:</a:t>
            </a:r>
            <a:endParaRPr lang="en-US" dirty="0"/>
          </a:p>
          <a:p>
            <a:pPr lvl="0"/>
            <a:r>
              <a:rPr lang="en-US" b="1" dirty="0"/>
              <a:t>Synthetic Healthcare Database:</a:t>
            </a:r>
            <a:r>
              <a:rPr lang="en-US" dirty="0"/>
              <a:t> Recreated based on Synthea EHR data schemas to simulate real-world patient records and medical practices safely without HIPAA/privacy constraints.</a:t>
            </a:r>
          </a:p>
          <a:p>
            <a:pPr lvl="0"/>
            <a:r>
              <a:rPr lang="en-US" b="1" dirty="0"/>
              <a:t>Tutorial &amp; Framework Reference:</a:t>
            </a:r>
            <a:r>
              <a:rPr lang="en-US" dirty="0"/>
              <a:t> Learn how Synthea models synthetic electronic health record data on </a:t>
            </a:r>
            <a:r>
              <a:rPr lang="en-US" dirty="0">
                <a:hlinkClick r:id="rId2"/>
              </a:rPr>
              <a:t>YouTube</a:t>
            </a:r>
            <a:r>
              <a:rPr lang="en-US" dirty="0"/>
              <a:t>.</a:t>
            </a:r>
          </a:p>
          <a:p>
            <a:pPr lvl="0"/>
            <a:r>
              <a:rPr lang="en-US" b="1" dirty="0"/>
              <a:t>Clinical Scope:</a:t>
            </a:r>
            <a:r>
              <a:rPr lang="en-US" dirty="0"/>
              <a:t> Modeled as a general health system database containing patient demographics, clinical visits (encounters), and diagnosed medical conditions.</a:t>
            </a:r>
          </a:p>
          <a:p>
            <a:r>
              <a:rPr lang="en-US" b="1" dirty="0"/>
              <a:t>Core Tables Analyzed:</a:t>
            </a:r>
            <a:endParaRPr lang="en-US" dirty="0"/>
          </a:p>
          <a:p>
            <a:pPr lvl="0"/>
            <a:r>
              <a:rPr lang="en-US" b="1" dirty="0"/>
              <a:t>Patients Table:</a:t>
            </a:r>
            <a:r>
              <a:rPr lang="en-US" dirty="0"/>
              <a:t> Contains patient demographic data, including unique IDs (id), birthdates, and geographic location.</a:t>
            </a:r>
          </a:p>
          <a:p>
            <a:pPr lvl="0"/>
            <a:r>
              <a:rPr lang="en-US" b="1" dirty="0"/>
              <a:t> Encounters Table:</a:t>
            </a:r>
            <a:r>
              <a:rPr lang="en-US" dirty="0"/>
              <a:t> Captures individual outpatient, inpatient, and emergency department visits, tracking encounter dates, visit types, and claim/cost details.</a:t>
            </a:r>
          </a:p>
          <a:p>
            <a:pPr lvl="0"/>
            <a:r>
              <a:rPr lang="en-US" b="1" dirty="0"/>
              <a:t>Conditions Table:</a:t>
            </a:r>
            <a:r>
              <a:rPr lang="en-US" dirty="0"/>
              <a:t> Records diagnosed medical conditions linked to specific encounters using standardized ICD-10 coding syntax.</a:t>
            </a:r>
          </a:p>
        </p:txBody>
      </p:sp>
    </p:spTree>
    <p:extLst>
      <p:ext uri="{BB962C8B-B14F-4D97-AF65-F5344CB8AC3E}">
        <p14:creationId xmlns:p14="http://schemas.microsoft.com/office/powerpoint/2010/main" val="2100137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FFB15-93F2-9E49-715E-94AF0B2BBB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00730-4BA3-8551-0CE2-DDB4DBA5923E}"/>
              </a:ext>
            </a:extLst>
          </p:cNvPr>
          <p:cNvSpPr>
            <a:spLocks noGrp="1"/>
          </p:cNvSpPr>
          <p:nvPr>
            <p:ph type="title"/>
          </p:nvPr>
        </p:nvSpPr>
        <p:spPr/>
        <p:txBody>
          <a:bodyPr/>
          <a:lstStyle/>
          <a:p>
            <a:r>
              <a:rPr lang="en-US" b="1" dirty="0"/>
              <a:t>Data Limitations</a:t>
            </a:r>
            <a:endParaRPr lang="en-US" dirty="0"/>
          </a:p>
        </p:txBody>
      </p:sp>
      <p:sp>
        <p:nvSpPr>
          <p:cNvPr id="3" name="Content Placeholder 2">
            <a:extLst>
              <a:ext uri="{FF2B5EF4-FFF2-40B4-BE49-F238E27FC236}">
                <a16:creationId xmlns:a16="http://schemas.microsoft.com/office/drawing/2014/main" id="{FAFDD1C9-6128-FC41-8041-667659F875BA}"/>
              </a:ext>
            </a:extLst>
          </p:cNvPr>
          <p:cNvSpPr>
            <a:spLocks noGrp="1"/>
          </p:cNvSpPr>
          <p:nvPr>
            <p:ph sz="half" idx="1"/>
          </p:nvPr>
        </p:nvSpPr>
        <p:spPr>
          <a:xfrm>
            <a:off x="1066800" y="1825624"/>
            <a:ext cx="10058400" cy="4575175"/>
          </a:xfrm>
        </p:spPr>
        <p:txBody>
          <a:bodyPr>
            <a:normAutofit/>
          </a:bodyPr>
          <a:lstStyle/>
          <a:p>
            <a:pPr lvl="0"/>
            <a:r>
              <a:rPr lang="en-US" b="1" dirty="0"/>
              <a:t>Small Sample Size:</a:t>
            </a:r>
            <a:r>
              <a:rPr lang="en-US" dirty="0"/>
              <a:t> The database was limited to only 30 patients. Because of this small sample size, the trends and demographic patterns observed cannot be generalized to a larger real-world patient population or broader health system.</a:t>
            </a:r>
          </a:p>
          <a:p>
            <a:pPr lvl="0"/>
            <a:r>
              <a:rPr lang="en-US" b="1" dirty="0"/>
              <a:t>Incomplete Data Columns:</a:t>
            </a:r>
            <a:r>
              <a:rPr lang="en-US" dirty="0"/>
              <a:t> Several columns across the tables contained null or missing values, which restricted the scope of variables available for deeper multi-factor analysis.</a:t>
            </a:r>
          </a:p>
          <a:p>
            <a:pPr lvl="0"/>
            <a:r>
              <a:rPr lang="en-US" b="1" dirty="0"/>
              <a:t>Synthetic Data Artifacts:</a:t>
            </a:r>
            <a:r>
              <a:rPr lang="en-US" dirty="0"/>
              <a:t> Because the dataset was synthetically generated, certain clinical patterns—such as high heart failure rates in younger age cohorts—may reflect algorithm generation rules rather than true epidemiological trends.</a:t>
            </a:r>
          </a:p>
        </p:txBody>
      </p:sp>
    </p:spTree>
    <p:extLst>
      <p:ext uri="{BB962C8B-B14F-4D97-AF65-F5344CB8AC3E}">
        <p14:creationId xmlns:p14="http://schemas.microsoft.com/office/powerpoint/2010/main" val="2727312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0090-E707-69FC-4C1C-E25E439287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77C56D-EE43-F94E-BEB8-E945E2C83085}"/>
              </a:ext>
            </a:extLst>
          </p:cNvPr>
          <p:cNvSpPr>
            <a:spLocks noGrp="1"/>
          </p:cNvSpPr>
          <p:nvPr>
            <p:ph type="title"/>
          </p:nvPr>
        </p:nvSpPr>
        <p:spPr/>
        <p:txBody>
          <a:bodyPr/>
          <a:lstStyle/>
          <a:p>
            <a:r>
              <a:rPr lang="en-US" dirty="0"/>
              <a:t>Analytical Next Steps</a:t>
            </a:r>
          </a:p>
        </p:txBody>
      </p:sp>
      <p:sp>
        <p:nvSpPr>
          <p:cNvPr id="3" name="Content Placeholder 2">
            <a:extLst>
              <a:ext uri="{FF2B5EF4-FFF2-40B4-BE49-F238E27FC236}">
                <a16:creationId xmlns:a16="http://schemas.microsoft.com/office/drawing/2014/main" id="{B3F225AC-773E-30F2-B89D-AF5C1D8D8F40}"/>
              </a:ext>
            </a:extLst>
          </p:cNvPr>
          <p:cNvSpPr>
            <a:spLocks noGrp="1"/>
          </p:cNvSpPr>
          <p:nvPr>
            <p:ph sz="half" idx="1"/>
          </p:nvPr>
        </p:nvSpPr>
        <p:spPr>
          <a:xfrm>
            <a:off x="1066800" y="1825624"/>
            <a:ext cx="10058400" cy="4575175"/>
          </a:xfrm>
        </p:spPr>
        <p:txBody>
          <a:bodyPr>
            <a:normAutofit fontScale="92500"/>
          </a:bodyPr>
          <a:lstStyle/>
          <a:p>
            <a:pPr lvl="0"/>
            <a:r>
              <a:rPr lang="en-US" dirty="0"/>
              <a:t>Further exploratory analysis should be conducted on this cohort to evaluate:  </a:t>
            </a:r>
          </a:p>
          <a:p>
            <a:pPr marL="457200" lvl="0" indent="-457200">
              <a:buFont typeface="+mj-lt"/>
              <a:buAutoNum type="arabicPeriod"/>
            </a:pPr>
            <a:r>
              <a:rPr lang="en-US" dirty="0"/>
              <a:t>Evaluate the prevalence of prior diagnoses—such as uncontrolled hypertension (I10), type 2 diabetes (E11.9), or chronic kidney disease—to understand how co-occurring conditions drive overall patient care needs. </a:t>
            </a:r>
          </a:p>
          <a:p>
            <a:pPr marL="457200" lvl="0" indent="-457200">
              <a:buFont typeface="+mj-lt"/>
              <a:buAutoNum type="arabicPeriod"/>
            </a:pPr>
            <a:r>
              <a:rPr lang="en-US" dirty="0"/>
              <a:t>Analyzing these overlapping health conditions reveals complex disease interactions that significantly increase hospital admission rates and overall treatment costs. </a:t>
            </a:r>
          </a:p>
          <a:p>
            <a:pPr marL="457200" lvl="0" indent="-457200">
              <a:buFont typeface="+mj-lt"/>
              <a:buAutoNum type="arabicPeriod"/>
            </a:pPr>
            <a:r>
              <a:rPr lang="en-US" dirty="0"/>
              <a:t>Utilization Patterns: Frequency of primary care routine visits versus emergency/inpatient encounters prior to initial heart failure diagnosis.</a:t>
            </a:r>
          </a:p>
          <a:p>
            <a:pPr marL="457200" lvl="0" indent="-457200">
              <a:buFont typeface="+mj-lt"/>
              <a:buAutoNum type="arabicPeriod"/>
            </a:pPr>
            <a:r>
              <a:rPr lang="en-US" dirty="0"/>
              <a:t>Expand the dataset beyond the 30-patient synthetic sample to evaluate larger populations and validate statistical trends across broader demographics.</a:t>
            </a:r>
          </a:p>
        </p:txBody>
      </p:sp>
    </p:spTree>
    <p:extLst>
      <p:ext uri="{BB962C8B-B14F-4D97-AF65-F5344CB8AC3E}">
        <p14:creationId xmlns:p14="http://schemas.microsoft.com/office/powerpoint/2010/main" val="306359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03FD7-9527-13AC-AF3D-BC88B42BDF28}"/>
              </a:ext>
            </a:extLst>
          </p:cNvPr>
          <p:cNvSpPr>
            <a:spLocks noGrp="1"/>
          </p:cNvSpPr>
          <p:nvPr>
            <p:ph type="title"/>
          </p:nvPr>
        </p:nvSpPr>
        <p:spPr/>
        <p:txBody>
          <a:bodyPr/>
          <a:lstStyle/>
          <a:p>
            <a:r>
              <a:rPr lang="en-US" dirty="0"/>
              <a:t>Most Common Diagnoses</a:t>
            </a:r>
          </a:p>
        </p:txBody>
      </p:sp>
      <p:pic>
        <p:nvPicPr>
          <p:cNvPr id="6" name="Content Placeholder 5">
            <a:extLst>
              <a:ext uri="{FF2B5EF4-FFF2-40B4-BE49-F238E27FC236}">
                <a16:creationId xmlns:a16="http://schemas.microsoft.com/office/drawing/2014/main" id="{3CDD39D8-CDED-FCEF-671D-BD1A82831BB6}"/>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1075660" y="1905000"/>
            <a:ext cx="9448800" cy="4495800"/>
          </a:xfrm>
          <a:prstGeom prst="rect">
            <a:avLst/>
          </a:prstGeom>
        </p:spPr>
      </p:pic>
    </p:spTree>
    <p:extLst>
      <p:ext uri="{BB962C8B-B14F-4D97-AF65-F5344CB8AC3E}">
        <p14:creationId xmlns:p14="http://schemas.microsoft.com/office/powerpoint/2010/main" val="312844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C4DFD-6459-944F-3BF0-782D2A9A9F43}"/>
              </a:ext>
            </a:extLst>
          </p:cNvPr>
          <p:cNvSpPr>
            <a:spLocks noGrp="1"/>
          </p:cNvSpPr>
          <p:nvPr>
            <p:ph type="title"/>
          </p:nvPr>
        </p:nvSpPr>
        <p:spPr/>
        <p:txBody>
          <a:bodyPr/>
          <a:lstStyle/>
          <a:p>
            <a:r>
              <a:rPr lang="en-US" dirty="0"/>
              <a:t>Encounters by Age Group</a:t>
            </a:r>
          </a:p>
        </p:txBody>
      </p:sp>
      <p:pic>
        <p:nvPicPr>
          <p:cNvPr id="6" name="Content Placeholder 5">
            <a:extLst>
              <a:ext uri="{FF2B5EF4-FFF2-40B4-BE49-F238E27FC236}">
                <a16:creationId xmlns:a16="http://schemas.microsoft.com/office/drawing/2014/main" id="{D9FA5D0F-F110-3776-C153-F8F78899E487}"/>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1219200" y="1905000"/>
            <a:ext cx="8305800" cy="4191000"/>
          </a:xfrm>
          <a:prstGeom prst="rect">
            <a:avLst/>
          </a:prstGeom>
        </p:spPr>
      </p:pic>
    </p:spTree>
    <p:extLst>
      <p:ext uri="{BB962C8B-B14F-4D97-AF65-F5344CB8AC3E}">
        <p14:creationId xmlns:p14="http://schemas.microsoft.com/office/powerpoint/2010/main" val="4124479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9A27E-027F-43FB-D642-D270C3890B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3457C6-2499-ACBC-77D4-B3B01977643B}"/>
              </a:ext>
            </a:extLst>
          </p:cNvPr>
          <p:cNvSpPr>
            <a:spLocks noGrp="1"/>
          </p:cNvSpPr>
          <p:nvPr>
            <p:ph type="title"/>
          </p:nvPr>
        </p:nvSpPr>
        <p:spPr/>
        <p:txBody>
          <a:bodyPr/>
          <a:lstStyle/>
          <a:p>
            <a:r>
              <a:rPr lang="en-US" dirty="0"/>
              <a:t>Highest Spending &amp; Utilization </a:t>
            </a:r>
          </a:p>
        </p:txBody>
      </p:sp>
      <p:pic>
        <p:nvPicPr>
          <p:cNvPr id="7" name="Content Placeholder 6">
            <a:extLst>
              <a:ext uri="{FF2B5EF4-FFF2-40B4-BE49-F238E27FC236}">
                <a16:creationId xmlns:a16="http://schemas.microsoft.com/office/drawing/2014/main" id="{E95381AA-7B28-81D8-0D4B-C81C069D7B93}"/>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1676400" y="1905000"/>
            <a:ext cx="7620000" cy="4038600"/>
          </a:xfrm>
          <a:prstGeom prst="rect">
            <a:avLst/>
          </a:prstGeom>
        </p:spPr>
      </p:pic>
    </p:spTree>
    <p:extLst>
      <p:ext uri="{BB962C8B-B14F-4D97-AF65-F5344CB8AC3E}">
        <p14:creationId xmlns:p14="http://schemas.microsoft.com/office/powerpoint/2010/main" val="1069920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9BAA8-7D1B-B09F-79B5-C3183B3003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D2AD5-3181-E442-F960-2CA6603D41E3}"/>
              </a:ext>
            </a:extLst>
          </p:cNvPr>
          <p:cNvSpPr>
            <a:spLocks noGrp="1"/>
          </p:cNvSpPr>
          <p:nvPr>
            <p:ph type="title"/>
          </p:nvPr>
        </p:nvSpPr>
        <p:spPr/>
        <p:txBody>
          <a:bodyPr/>
          <a:lstStyle/>
          <a:p>
            <a:r>
              <a:rPr lang="en-US" b="1" dirty="0"/>
              <a:t>How I Used Python:</a:t>
            </a:r>
            <a:endParaRPr lang="en-US" dirty="0"/>
          </a:p>
        </p:txBody>
      </p:sp>
      <p:sp>
        <p:nvSpPr>
          <p:cNvPr id="3" name="Content Placeholder 2">
            <a:extLst>
              <a:ext uri="{FF2B5EF4-FFF2-40B4-BE49-F238E27FC236}">
                <a16:creationId xmlns:a16="http://schemas.microsoft.com/office/drawing/2014/main" id="{D82E7031-5241-411A-FF29-F6760C64EC3F}"/>
              </a:ext>
            </a:extLst>
          </p:cNvPr>
          <p:cNvSpPr>
            <a:spLocks noGrp="1"/>
          </p:cNvSpPr>
          <p:nvPr>
            <p:ph sz="half" idx="1"/>
          </p:nvPr>
        </p:nvSpPr>
        <p:spPr>
          <a:xfrm>
            <a:off x="1066800" y="1825624"/>
            <a:ext cx="10058400" cy="4575175"/>
          </a:xfrm>
        </p:spPr>
        <p:txBody>
          <a:bodyPr>
            <a:normAutofit/>
          </a:bodyPr>
          <a:lstStyle/>
          <a:p>
            <a:r>
              <a:rPr lang="en-US" dirty="0"/>
              <a:t>I used Python along with the Pandas library to load the clean datasets exported from my SQL queries. </a:t>
            </a:r>
          </a:p>
          <a:p>
            <a:r>
              <a:rPr lang="en-US" dirty="0"/>
              <a:t>With Python, I validated data types and performed final data transformations before leveraging Seaborn and Matplotlib to build clear, custom visualizations—such as bar plots and demographic distributions—that brought my SQL findings to life visually.</a:t>
            </a:r>
          </a:p>
        </p:txBody>
      </p:sp>
    </p:spTree>
    <p:extLst>
      <p:ext uri="{BB962C8B-B14F-4D97-AF65-F5344CB8AC3E}">
        <p14:creationId xmlns:p14="http://schemas.microsoft.com/office/powerpoint/2010/main" val="415716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edical Design 16x9">
  <a:themeElements>
    <a:clrScheme name="Custom 1">
      <a:dk1>
        <a:sysClr val="windowText" lastClr="000000"/>
      </a:dk1>
      <a:lt1>
        <a:sysClr val="window" lastClr="FFFFFF"/>
      </a:lt1>
      <a:dk2>
        <a:srgbClr val="FFFFFF"/>
      </a:dk2>
      <a:lt2>
        <a:srgbClr val="FFFFFF"/>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41.potx" id="{D7485564-6666-4DDB-B0D3-55F6E694D6E5}" vid="{6E950D30-6FC6-4411-BCFF-468AD9ECA787}"/>
    </a:ext>
  </a:extLst>
</a:theme>
</file>

<file path=ppt/theme/theme2.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Medical design presentation (widescreen)</Template>
  <TotalTime>5976</TotalTime>
  <Words>826</Words>
  <Application>Microsoft Office PowerPoint</Application>
  <PresentationFormat>Widescreen</PresentationFormat>
  <Paragraphs>63</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Franklin Gothic Medium</vt:lpstr>
      <vt:lpstr>Medical Design 16x9</vt:lpstr>
      <vt:lpstr>Patient Encounter Analysis: Demographics, Utilization, and Preventative Insights</vt:lpstr>
      <vt:lpstr>Project Purpose &amp; Objectives</vt:lpstr>
      <vt:lpstr>Project Analytical Questions</vt:lpstr>
      <vt:lpstr>How I Used SQL (PostgreSQL)</vt:lpstr>
      <vt:lpstr>Question 1:How many unique patients are in the database?</vt:lpstr>
      <vt:lpstr>Question 2: What are the most common diagnoses or health conditions</vt:lpstr>
      <vt:lpstr>Question 3: Which age groups had the most healthcare encounters?</vt:lpstr>
      <vt:lpstr>Question 4: What is the average number of visits per patient?</vt:lpstr>
      <vt:lpstr>Question 5: Question 5: Which conditions have the highest healthcare utilization (by total cost)?</vt:lpstr>
      <vt:lpstr>Dataset Overview</vt:lpstr>
      <vt:lpstr>Data Limitations</vt:lpstr>
      <vt:lpstr>Analytical Next Steps</vt:lpstr>
      <vt:lpstr>Most Common Diagnoses</vt:lpstr>
      <vt:lpstr>Encounters by Age Group</vt:lpstr>
      <vt:lpstr>Highest Spending &amp; Utilization </vt:lpstr>
      <vt:lpstr>How I Used Python: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Javaris Knight</dc:creator>
  <cp:lastModifiedBy>Javaris Knight</cp:lastModifiedBy>
  <cp:revision>8</cp:revision>
  <dcterms:created xsi:type="dcterms:W3CDTF">2026-08-30T17:40:45Z</dcterms:created>
  <dcterms:modified xsi:type="dcterms:W3CDTF">2026-09-30T00:26:04Z</dcterms:modified>
</cp:coreProperties>
</file>